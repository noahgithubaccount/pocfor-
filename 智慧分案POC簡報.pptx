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TW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5747"/>
    <p:restoredTop autoAdjust="0" sz="94889"/>
  </p:normalViewPr>
  <p:slideViewPr>
    <p:cSldViewPr snapToGrid="0">
      <p:cViewPr varScale="1">
        <p:scale>
          <a:sx d="100" n="67"/>
          <a:sy d="100" n="67"/>
        </p:scale>
        <p:origin x="66" y="156"/>
      </p:cViewPr>
      <p:guideLst/>
    </p:cSldViewPr>
  </p:slideViewPr>
  <p:outlineViewPr>
    <p:cViewPr>
      <p:scale>
        <a:sx d="100" n="33"/>
        <a:sy d="100" n="33"/>
      </p:scale>
      <p:origin x="0" y="-24846"/>
    </p:cViewPr>
  </p:outlineViewPr>
  <p:notesTextViewPr>
    <p:cViewPr>
      <p:scale>
        <a:sx d="1" n="1"/>
        <a:sy d="1" n="1"/>
      </p:scale>
      <p:origin x="0" y="0"/>
    </p:cViewPr>
  </p:notesTextViewPr>
  <p:sorterViewPr>
    <p:cViewPr varScale="1">
      <p:scale>
        <a:sx d="100" n="100"/>
        <a:sy d="100" n="100"/>
      </p:scale>
      <p:origin x="0" y="-2778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notesMaster" Target="notesMasters/notesMaster1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6A159-5401-48B7-A807-67DBED52373F}" type="datetimeFigureOut">
              <a:rPr lang="zh-TW" altLang="en-US" smtClean="0"/>
              <a:t>4/7 Tue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081AFF-1597-41BA-B977-EC94C22D94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8354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本系統旨在透過自然語言處理技術，將市民陳情文字自動分類至對應的政府局處，提供 Top-N 候選結果與信心值，協助分案人員快速決策。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81AFF-1597-41BA-B977-EC94C22D9431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專案設計兩種並行技術路線：輕量級的 TextCNN 方案與重量級的 BERT 方案，讓使用單位可依實際需求選擇合適的模型。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81AFF-1597-41BA-B977-EC94C22D9431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TextCNN 方案使用 PyTorch 實作，搭配 jieba 斷詞與自訓練 Word2Vec 詞向量。優點是模型輕量（約 4 MB）、推論極快，適合資源受限的部署環境。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81AFF-1597-41BA-B977-EC94C22D9431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BERT 方案採用 hfl/chinese-roberta-wwm-ext 預訓練模型進行微調，無需手動斷詞，準確率通常優於 TextCNN。模型大小約 400 MB，推論速度仍可達 &lt; 1 秒/筆。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81AFF-1597-41BA-B977-EC94C22D9431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兩方案各有優勢：TextCNN 輕量快速，適合邊緣部署；BERT 準確率高，適合追求精準度的場景。兩者 API 介面相同，可無縫切換。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81AFF-1597-41BA-B977-EC94C22D9431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訓練完成後，模型 checkpoint 會產生在各自的 checkpoints/ 目錄。GPU 機器僅訓練時需要，推論階段可使用 CPU-only 環境。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81AFF-1597-41BA-B977-EC94C22D9431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兩個 API 服務使用相同的 RESTful 介面設計，僅端口不同（8080 vs 8081），可同時運行進行比較測試。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81AFF-1597-41BA-B977-EC94C22D9431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/predict 端點接受陳情文字（preString）與候選數量（preNum），回傳 Top-N 局處預測結果及信心值。/tfidf 端點僅 TextCNN 版本提供，用於萃取文字關鍵詞。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081AFF-1597-41BA-B977-EC94C22D9431}" type="slidenum">
              <a:rPr lang="en-US"/>
              <a:t>13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192.168.16.65\總企劃處\01投標相關\99簡報範本\簡報素材\New\素材\01.png">
            <a:extLst>
              <a:ext uri="{FF2B5EF4-FFF2-40B4-BE49-F238E27FC236}">
                <a16:creationId xmlns:a16="http://schemas.microsoft.com/office/drawing/2014/main" id="{BBB6FF40-F4B6-43D0-B5EB-CD1D446493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078" y="-1747"/>
            <a:ext cx="12204078" cy="6880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284721B-A412-4634-BD78-55CF166D1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6015C6F-0B80-4B8C-BD58-535E4CDFDA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5137" y="3602038"/>
            <a:ext cx="5538688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82C71F-8D39-453F-A5AC-BF2F5599A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288C1-0B44-40A8-A4D4-155C6543CE3E}" type="datetime1">
              <a:rPr lang="zh-TW" altLang="en-US" smtClean="0"/>
              <a:t>4/7 Tue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F87CCB3-0559-4D6D-9ACB-DD1AED5C4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1A8FE7-B6B3-4E27-AC52-148A88A2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FE3C-CB2E-446B-970D-61ABFFB9464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圓角矩形 9">
            <a:extLst>
              <a:ext uri="{FF2B5EF4-FFF2-40B4-BE49-F238E27FC236}">
                <a16:creationId xmlns:a16="http://schemas.microsoft.com/office/drawing/2014/main" id="{7798BDAD-3FB9-D791-95C0-95D3841AFBB4}"/>
              </a:ext>
            </a:extLst>
          </p:cNvPr>
          <p:cNvSpPr/>
          <p:nvPr userDrawn="1"/>
        </p:nvSpPr>
        <p:spPr>
          <a:xfrm>
            <a:off x="3475137" y="3602038"/>
            <a:ext cx="5538688" cy="1659668"/>
          </a:xfrm>
          <a:prstGeom prst="roundRect">
            <a:avLst>
              <a:gd name="adj" fmla="val 1092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</p:spTree>
    <p:extLst>
      <p:ext uri="{BB962C8B-B14F-4D97-AF65-F5344CB8AC3E}">
        <p14:creationId xmlns:p14="http://schemas.microsoft.com/office/powerpoint/2010/main" val="4278231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 descr="\\192.168.16.65\總企劃處\01投標相關\99簡報範本\簡報素材\New\素材\02.png">
            <a:extLst>
              <a:ext uri="{FF2B5EF4-FFF2-40B4-BE49-F238E27FC236}">
                <a16:creationId xmlns:a16="http://schemas.microsoft.com/office/drawing/2014/main" id="{6DC142A1-A6E6-49A8-BF71-7611801C90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115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707355-22E9-45F5-B584-B4258A671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43C739-304C-42D1-9F89-E205C0035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C8849-EC93-40E8-BDD7-A7B46AB2E41B}" type="datetime1">
              <a:rPr lang="zh-TW" altLang="en-US" smtClean="0"/>
              <a:t>4/7 Tue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C50B90-66FD-4DCD-A38D-BB1F93150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7635B3-4035-4C04-BEEA-9C4247F2A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FE3C-CB2E-446B-970D-61ABFFB9464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標題版面配置區 1">
            <a:extLst>
              <a:ext uri="{FF2B5EF4-FFF2-40B4-BE49-F238E27FC236}">
                <a16:creationId xmlns:a16="http://schemas.microsoft.com/office/drawing/2014/main" id="{9F37A581-AE57-40D2-A235-2C13628B3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314325"/>
            <a:ext cx="9263744" cy="9931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409593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\\192.168.16.65\總企劃處\01投標相關\99簡報範本\簡報素材\New\素材\01.png">
            <a:extLst>
              <a:ext uri="{FF2B5EF4-FFF2-40B4-BE49-F238E27FC236}">
                <a16:creationId xmlns:a16="http://schemas.microsoft.com/office/drawing/2014/main" id="{3F680D6B-40F5-4473-A1FC-1E3CE9DB6F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078" y="-1747"/>
            <a:ext cx="12204078" cy="6880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456ADFC-6C8D-4B6D-9E7F-BB1DD8766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3D2C1AB-AB1B-4674-8226-FF0F15F56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0F7B60F-DBF2-4334-80CC-C0D0BF013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5EF5-6DB5-4944-9F51-DBD9A53E353C}" type="datetime1">
              <a:rPr lang="zh-TW" altLang="en-US" smtClean="0"/>
              <a:t>4/7 Tue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95FE86B-2101-4878-9506-4CA54A4B6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BEB1D8-4B57-4D79-93A7-AFC377294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FE3C-CB2E-446B-970D-61ABFFB946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1101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\\192.168.16.65\總企劃處\01投標相關\99簡報範本\簡報素材\New\素材\02.png">
            <a:extLst>
              <a:ext uri="{FF2B5EF4-FFF2-40B4-BE49-F238E27FC236}">
                <a16:creationId xmlns:a16="http://schemas.microsoft.com/office/drawing/2014/main" id="{4123B0C9-BB9F-416B-8E5E-FDC9C5BFD6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115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36254F4-C0F8-48AE-86A8-E5AEDE2EB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300038"/>
            <a:ext cx="9530443" cy="1007445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5E7A0B-C6F3-4235-B87C-10E48916D2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73264"/>
            <a:ext cx="5181600" cy="4703699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6A7489A-8442-44C2-B7EF-F0B283E65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73264"/>
            <a:ext cx="5181600" cy="4703699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/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defRPr/>
            </a:lvl3pPr>
            <a:lvl4pPr>
              <a:lnSpc>
                <a:spcPct val="150000"/>
              </a:lnSpc>
              <a:spcBef>
                <a:spcPts val="0"/>
              </a:spcBef>
              <a:defRPr/>
            </a:lvl4pPr>
            <a:lvl5pPr>
              <a:lnSpc>
                <a:spcPct val="15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85EDFC2-19FD-4A14-A85E-632043048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AA123-0BB3-4F6F-A8A3-238055598524}" type="datetime1">
              <a:rPr lang="zh-TW" altLang="en-US" smtClean="0"/>
              <a:t>4/7 Tue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ED19E23-587F-46C5-BD2D-62BDAA45D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9BA13AC-24A1-431D-8FF6-CE211E56C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FE3C-CB2E-446B-970D-61ABFFB946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6019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 descr="\\192.168.16.65\總企劃處\01投標相關\99簡報範本\簡報素材\New\素材\02.png">
            <a:extLst>
              <a:ext uri="{FF2B5EF4-FFF2-40B4-BE49-F238E27FC236}">
                <a16:creationId xmlns:a16="http://schemas.microsoft.com/office/drawing/2014/main" id="{7C0D185C-5162-4940-9205-AE6BCD388F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115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84031A7-FEB4-4DAA-A4A4-62BDD7C7A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58340"/>
            <a:ext cx="5157787" cy="7133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CAEDD3E-E3A6-4EAB-8031-66AE10865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38388"/>
            <a:ext cx="5157787" cy="3851275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CE1C1EE-CADD-4A00-8481-211380EE52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58340"/>
            <a:ext cx="5183188" cy="7133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ED1562E-E8C3-44C8-8448-B0A1D5CA8A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38388"/>
            <a:ext cx="5183188" cy="3851275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909F49F-4FF5-4F06-988E-F3116882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A31CD-2B5C-4687-8F2C-A4C4994683F9}" type="datetime1">
              <a:rPr lang="zh-TW" altLang="en-US" smtClean="0"/>
              <a:t>4/7 Tue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5A43F1B-B5B5-497F-9EF6-54041BF33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3116911-F6D8-41F8-B60B-CF42A17AC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FE3C-CB2E-446B-970D-61ABFFB9464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7ED2611E-52B8-6D44-F0F9-57676C440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300038"/>
            <a:ext cx="9530443" cy="1007445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446460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\\192.168.16.65\總企劃處\01投標相關\99簡報範本\簡報素材\New\素材\02.png">
            <a:extLst>
              <a:ext uri="{FF2B5EF4-FFF2-40B4-BE49-F238E27FC236}">
                <a16:creationId xmlns:a16="http://schemas.microsoft.com/office/drawing/2014/main" id="{0A9275DC-F3C4-439D-8296-34A35B6A30A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115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3CF3089-05B0-49F4-BA73-303DEE1B2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DDA6C-C07F-4C18-BDA5-C0AA292C9C95}" type="datetime1">
              <a:rPr lang="zh-TW" altLang="en-US" smtClean="0"/>
              <a:t>4/7 Tue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3389E81-6A4F-43C2-9D0F-E69C6A5ED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D1532F2-3E5C-4607-BCD9-0008562C6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FE3C-CB2E-446B-970D-61ABFFB9464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A55E5776-0F84-AF38-70EB-6F10D2A0E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300038"/>
            <a:ext cx="9530443" cy="1007445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789287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\\192.168.16.65\總企劃處\01投標相關\99簡報範本\簡報素材\New\素材\02.png">
            <a:extLst>
              <a:ext uri="{FF2B5EF4-FFF2-40B4-BE49-F238E27FC236}">
                <a16:creationId xmlns:a16="http://schemas.microsoft.com/office/drawing/2014/main" id="{8E6F14C1-170D-45FE-A1C6-1B45164B37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115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35A5669-B5D1-41A0-A89F-2D969C87E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EBA8B-2363-4E7D-AA4A-908C07EF3A01}" type="datetime1">
              <a:rPr lang="zh-TW" altLang="en-US" smtClean="0"/>
              <a:t>4/7 Tue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93A54DE-644F-4454-A210-A0CF76C4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2BDF8D5-F384-4C07-86A0-D813CF4C3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FE3C-CB2E-446B-970D-61ABFFB946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7340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\\192.168.16.65\總企劃處\01投標相關\99簡報範本\簡報素材\New\素材\02.png">
            <a:extLst>
              <a:ext uri="{FF2B5EF4-FFF2-40B4-BE49-F238E27FC236}">
                <a16:creationId xmlns:a16="http://schemas.microsoft.com/office/drawing/2014/main" id="{3E6CFDFB-57EE-9AAE-33A7-48138AF0EE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115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1569B1DC-2169-4DA2-94AD-C099BD170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8338079" cy="626533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DD41DB-EFCB-4C1F-A562-59ACCE85C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158300"/>
            <a:ext cx="6172200" cy="47027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B2B6C16-4ABD-44C3-829D-666C68F6B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166238"/>
            <a:ext cx="3932237" cy="47027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CE9DBB3-D969-40B9-B387-04C857B96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98144-BF7D-474B-B57B-8511F09C201D}" type="datetime1">
              <a:rPr lang="zh-TW" altLang="en-US" smtClean="0"/>
              <a:t>4/7 Tue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32CEF9B-29FC-44A3-A6DF-25E7422B6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127FB6-0567-4C2C-BCC3-137725E52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FE3C-CB2E-446B-970D-61ABFFB946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523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045425-BCE0-4CE6-A896-7B9A22B17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8151812" cy="6350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F211FAB-89D2-4301-BACA-6D5F86A7B3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58300"/>
            <a:ext cx="6172200" cy="47027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CD2D22B-4D09-4E80-9370-989DC380A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166238"/>
            <a:ext cx="3932237" cy="47027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2419AD9-FC9B-41E3-A1FB-F3BE06C38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C6110-A9EC-468E-80B4-94BE664890E7}" type="datetime1">
              <a:rPr lang="zh-TW" altLang="en-US" smtClean="0"/>
              <a:t>4/7 Tue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32654AC-27E4-4FDE-A25D-76E63DD2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9977C2A-0E81-4BCC-B100-C8B29F57B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FE3C-CB2E-446B-970D-61ABFFB9464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8" name="Picture 7" descr="\\192.168.16.65\總企劃處\01投標相關\99簡報範本\簡報素材\New\素材\02.png">
            <a:extLst>
              <a:ext uri="{FF2B5EF4-FFF2-40B4-BE49-F238E27FC236}">
                <a16:creationId xmlns:a16="http://schemas.microsoft.com/office/drawing/2014/main" id="{5EB1D02D-53D1-DAE2-17FE-1B233ECECE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115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3944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807CF70-4DA5-44BD-8783-2A6FE63B3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2596BC-04E5-40FF-9505-D0526FA5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2F723-BAEF-4039-881F-06165EAD00E1}" type="datetime1">
              <a:rPr lang="zh-TW" altLang="en-US" smtClean="0"/>
              <a:t>4/7 Tue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3F00E0-D1A3-432E-9118-87759EF9B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A0AC8F-170B-43B4-AEA6-1DD6C87F4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FE3C-CB2E-446B-970D-61ABFFB9464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Picture 7" descr="\\192.168.16.65\總企劃處\01投標相關\99簡報範本\簡報素材\New\素材\02.png">
            <a:extLst>
              <a:ext uri="{FF2B5EF4-FFF2-40B4-BE49-F238E27FC236}">
                <a16:creationId xmlns:a16="http://schemas.microsoft.com/office/drawing/2014/main" id="{7A853509-FE1D-4EE2-3A5F-A956F1E410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115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89399495-1025-4362-FEFD-1E7E105DC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300038"/>
            <a:ext cx="9530443" cy="1007445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553236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12FD2EC-B125-46E6-A49F-8BE7E1DA18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295399"/>
            <a:ext cx="2628900" cy="4881563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50BE874-EDB5-4D4B-83A1-9366568837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640F1D0-CE63-42CC-B72B-EE1502031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0CAE-0A52-4A82-8544-4A645F5B68EA}" type="datetime1">
              <a:rPr lang="zh-TW" altLang="en-US" smtClean="0"/>
              <a:t>4/7 Tue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A1DCCA-7767-4A26-902F-237BAA5DD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C1BD10-34C0-4A1B-8C9F-9560D41DE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FE3C-CB2E-446B-970D-61ABFFB9464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Picture 7" descr="\\192.168.16.65\總企劃處\01投標相關\99簡報範本\簡報素材\New\素材\02.png">
            <a:extLst>
              <a:ext uri="{FF2B5EF4-FFF2-40B4-BE49-F238E27FC236}">
                <a16:creationId xmlns:a16="http://schemas.microsoft.com/office/drawing/2014/main" id="{E29DEB95-4639-5659-A6D7-4768FA4EB2E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115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5246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及物件_不使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3501008"/>
            <a:ext cx="12192000" cy="3356992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pic>
        <p:nvPicPr>
          <p:cNvPr id="8" name="Picture 2" descr="\\192.168.16.65\總企劃處\01投標相關\99簡報範本\簡報素材\New\素材\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104" y="-1746"/>
            <a:ext cx="12208104" cy="5162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圓角矩形 8"/>
          <p:cNvSpPr/>
          <p:nvPr userDrawn="1"/>
        </p:nvSpPr>
        <p:spPr>
          <a:xfrm>
            <a:off x="3619500" y="3793738"/>
            <a:ext cx="5029200" cy="1512358"/>
          </a:xfrm>
          <a:prstGeom prst="roundRect">
            <a:avLst>
              <a:gd name="adj" fmla="val 10928"/>
            </a:avLst>
          </a:prstGeom>
          <a:solidFill>
            <a:srgbClr val="CBD8E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0" name="圓角矩形 9"/>
          <p:cNvSpPr/>
          <p:nvPr userDrawn="1"/>
        </p:nvSpPr>
        <p:spPr>
          <a:xfrm>
            <a:off x="3389412" y="3501008"/>
            <a:ext cx="5538688" cy="1659668"/>
          </a:xfrm>
          <a:prstGeom prst="roundRect">
            <a:avLst>
              <a:gd name="adj" fmla="val 10928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1" name="矩形 10"/>
          <p:cNvSpPr/>
          <p:nvPr userDrawn="1"/>
        </p:nvSpPr>
        <p:spPr>
          <a:xfrm>
            <a:off x="3731847" y="3763110"/>
            <a:ext cx="72000" cy="180000"/>
          </a:xfrm>
          <a:prstGeom prst="rect">
            <a:avLst/>
          </a:prstGeom>
          <a:gradFill>
            <a:gsLst>
              <a:gs pos="0">
                <a:srgbClr val="0A3E8D"/>
              </a:gs>
              <a:gs pos="100000">
                <a:srgbClr val="1869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2" name="矩形 11"/>
          <p:cNvSpPr/>
          <p:nvPr userDrawn="1"/>
        </p:nvSpPr>
        <p:spPr>
          <a:xfrm>
            <a:off x="3731847" y="4177447"/>
            <a:ext cx="72000" cy="180000"/>
          </a:xfrm>
          <a:prstGeom prst="rect">
            <a:avLst/>
          </a:prstGeom>
          <a:gradFill>
            <a:gsLst>
              <a:gs pos="0">
                <a:srgbClr val="0A3E8D"/>
              </a:gs>
              <a:gs pos="100000">
                <a:srgbClr val="1869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3" name="矩形 12"/>
          <p:cNvSpPr/>
          <p:nvPr userDrawn="1"/>
        </p:nvSpPr>
        <p:spPr>
          <a:xfrm>
            <a:off x="3731847" y="4591785"/>
            <a:ext cx="72000" cy="180000"/>
          </a:xfrm>
          <a:prstGeom prst="rect">
            <a:avLst/>
          </a:prstGeom>
          <a:gradFill>
            <a:gsLst>
              <a:gs pos="0">
                <a:srgbClr val="0A3E8D"/>
              </a:gs>
              <a:gs pos="100000">
                <a:srgbClr val="1869B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-16104" y="1044659"/>
            <a:ext cx="12208104" cy="1143000"/>
          </a:xfrm>
        </p:spPr>
        <p:txBody>
          <a:bodyPr>
            <a:normAutofit/>
          </a:bodyPr>
          <a:lstStyle>
            <a:lvl1pPr>
              <a:defRPr lang="zh-TW" altLang="en-US" sz="4800" b="1" kern="120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143339" y="6381329"/>
            <a:ext cx="775368" cy="365125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15" name="文字版面配置區 14"/>
          <p:cNvSpPr>
            <a:spLocks noGrp="1"/>
          </p:cNvSpPr>
          <p:nvPr>
            <p:ph type="body" sz="quarter" idx="12"/>
          </p:nvPr>
        </p:nvSpPr>
        <p:spPr>
          <a:xfrm>
            <a:off x="-16104" y="2185622"/>
            <a:ext cx="12208104" cy="663575"/>
          </a:xfrm>
        </p:spPr>
        <p:txBody>
          <a:bodyPr>
            <a:normAutofit/>
          </a:bodyPr>
          <a:lstStyle>
            <a:lvl1pPr marL="0" indent="0" algn="ctr">
              <a:buNone/>
              <a:defRPr lang="zh-TW" altLang="en-US" sz="3400" b="1" kern="1200" cap="all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7" name="文字版面配置區 16"/>
          <p:cNvSpPr>
            <a:spLocks noGrp="1"/>
          </p:cNvSpPr>
          <p:nvPr>
            <p:ph type="body" sz="quarter" idx="13"/>
          </p:nvPr>
        </p:nvSpPr>
        <p:spPr>
          <a:xfrm>
            <a:off x="3778340" y="3660358"/>
            <a:ext cx="4032051" cy="382252"/>
          </a:xfrm>
        </p:spPr>
        <p:txBody>
          <a:bodyPr>
            <a:normAutofit/>
          </a:bodyPr>
          <a:lstStyle>
            <a:lvl1pPr marL="0" indent="0">
              <a:buNone/>
              <a:defRPr lang="zh-TW" altLang="en-US" sz="1800" b="1" kern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8" name="文字版面配置區 16"/>
          <p:cNvSpPr>
            <a:spLocks noGrp="1"/>
          </p:cNvSpPr>
          <p:nvPr>
            <p:ph type="body" sz="quarter" idx="14"/>
          </p:nvPr>
        </p:nvSpPr>
        <p:spPr>
          <a:xfrm>
            <a:off x="3778340" y="4054993"/>
            <a:ext cx="4032051" cy="382252"/>
          </a:xfrm>
        </p:spPr>
        <p:txBody>
          <a:bodyPr>
            <a:normAutofit/>
          </a:bodyPr>
          <a:lstStyle>
            <a:lvl1pPr marL="0" indent="0">
              <a:buNone/>
              <a:defRPr lang="zh-TW" altLang="en-US" sz="1800" b="1" kern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pic>
        <p:nvPicPr>
          <p:cNvPr id="2050" name="Picture 2" descr="\\192.168.16.65\總企劃處\01投標相關\99簡報範本\桓基LOGO109\2020桓基科技HGiga-logo-白_1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351" y="153989"/>
            <a:ext cx="1590976" cy="365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88250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media/image1.png" Type="http://schemas.openxmlformats.org/officeDocument/2006/relationships/imag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C0CFA97-95D7-4C5C-98C3-AF30CFBB35BB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462378"/>
            <a:ext cx="10515600" cy="4714585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TW"/>
              <a:t>按一下以編輯母片文字樣式</a:t>
            </a:r>
          </a:p>
          <a:p>
            <a:pPr lvl="1"/>
            <a:r>
              <a:rPr altLang="en-US" dirty="0" lang="zh-TW"/>
              <a:t>第二層</a:t>
            </a:r>
          </a:p>
          <a:p>
            <a:pPr lvl="2"/>
            <a:r>
              <a:rPr altLang="en-US" dirty="0" lang="zh-TW"/>
              <a:t>第三層</a:t>
            </a:r>
          </a:p>
          <a:p>
            <a:pPr lvl="3"/>
            <a:r>
              <a:rPr altLang="en-US" dirty="0" lang="zh-TW"/>
              <a:t>第四層</a:t>
            </a:r>
          </a:p>
          <a:p>
            <a:pPr lvl="4"/>
            <a:r>
              <a:rPr altLang="en-US" dirty="0" lang="zh-TW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9E16E2-9279-43EF-AFA3-5439C3C43B38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536969-9DA7-478C-90C7-B7F348C5C835}" type="datetime1">
              <a:rPr altLang="en-US" lang="zh-TW" smtClean="0"/>
              <a:t>4/7 Tue</a:t>
            </a:fld>
            <a:endParaRPr altLang="en-US" lang="zh-TW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B655672-26DA-4D02-A9A9-98083CCC8898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TW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C3A73E-D137-4010-94B3-02CE1DB465B4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9715499" y="6240010"/>
            <a:ext cx="1368878" cy="258761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8FE3C-CB2E-446B-970D-61ABFFB94645}" type="slidenum">
              <a:rPr altLang="en-US" lang="zh-TW" smtClean="0"/>
              <a:t>‹#›</a:t>
            </a:fld>
            <a:endParaRPr altLang="en-US" lang="zh-TW"/>
          </a:p>
        </p:txBody>
      </p:sp>
      <p:pic>
        <p:nvPicPr>
          <p:cNvPr descr="\\192.168.16.65\總企劃處\01投標相關\99簡報範本\簡報素材\New\素材\02.png" id="2" name="Picture 7">
            <a:extLst>
              <a:ext uri="{FF2B5EF4-FFF2-40B4-BE49-F238E27FC236}">
                <a16:creationId xmlns:a16="http://schemas.microsoft.com/office/drawing/2014/main" id="{CBEE286C-EFF9-80E8-B9F3-154AA5D7BA0B}"/>
              </a:ext>
            </a:extLst>
          </p:cNvPr>
          <p:cNvPicPr>
            <a:picLocks noChangeArrowheads="1"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115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標題版面配置區 1">
            <a:extLst>
              <a:ext uri="{FF2B5EF4-FFF2-40B4-BE49-F238E27FC236}">
                <a16:creationId xmlns:a16="http://schemas.microsoft.com/office/drawing/2014/main" id="{9F37A581-AE57-40D2-A235-2C13628B3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359229"/>
            <a:ext cx="9530443" cy="948254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dirty="0" lang="zh-TW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821593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5" r:id="rId12"/>
  </p:sldLayoutIdLst>
  <p:hf dt="0" ftr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="1" kern="1200" sz="40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1"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1"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1"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1"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1"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84721B-A412-4634-BD78-55CF166D1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智慧分案 POC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6015C6F-0B80-4B8C-BD58-535E4CDFDA13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3475137" y="3602038"/>
            <a:ext cx="5538688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市民陳情文字自動分類系統概念驗證</a:t>
            </a:r>
            <a:br/>
            <a:br/>
            <a:r>
              <a:rPr/>
              <a:t>資訊服務團隊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82C71F-8D39-453F-A5AC-BF2F5599A348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2026-04-27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1A8FE7-B6B3-4E27-AC52-148A88A236C3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0D8FE3C-CB2E-446B-970D-61ABFFB94645}" type="slidenum">
              <a:rPr altLang="en-US" lang="zh-TW" smtClean="0"/>
              <a:t>‹#›</a:t>
            </a:fld>
            <a:endParaRPr altLang="en-US" lang="zh-TW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56ADFC-6C8D-4B6D-9E7F-BB1DD8766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專案概述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BEB1D8-4B57-4D79-93A7-AFC377294B33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0D8FE3C-CB2E-446B-970D-61ABFFB94645}" type="slidenum">
              <a:rPr altLang="en-US" lang="zh-TW" smtClean="0"/>
              <a:t>‹#›</a:t>
            </a:fld>
            <a:endParaRPr altLang="en-US" lang="zh-TW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版面配置區 1">
            <a:extLst>
              <a:ext uri="{FF2B5EF4-FFF2-40B4-BE49-F238E27FC236}">
                <a16:creationId xmlns:a16="http://schemas.microsoft.com/office/drawing/2014/main" id="{9F37A581-AE57-40D2-A235-2C13628B3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314325"/>
            <a:ext cx="9263744" cy="993158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系統簡介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707355-22E9-45F5-B584-B4258A671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目標：市民陳情文字自動分類至對應局處</a:t>
            </a:r>
          </a:p>
          <a:p>
            <a:pPr lvl="0"/>
            <a:r>
              <a:rPr/>
              <a:t>輸入：一段陳情文字</a:t>
            </a:r>
          </a:p>
          <a:p>
            <a:pPr lvl="0"/>
            <a:r>
              <a:rPr/>
              <a:t>輸出：Top-N 候選局處與信心值</a:t>
            </a:r>
          </a:p>
          <a:p>
            <a:pPr lvl="0"/>
            <a:r>
              <a:rPr/>
              <a:t>階段：概念驗證（Proof of Concept）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7635B3-4035-4C04-BEEA-9C4247F2A916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0D8FE3C-CB2E-446B-970D-61ABFFB94645}" type="slidenum">
              <a:rPr altLang="en-US" lang="zh-TW" smtClean="0"/>
              <a:t>‹#›</a:t>
            </a:fld>
            <a:endParaRPr altLang="en-US" lang="zh-TW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56ADFC-6C8D-4B6D-9E7F-BB1DD8766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專案架構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BEB1D8-4B57-4D79-93A7-AFC377294B33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0D8FE3C-CB2E-446B-970D-61ABFFB94645}" type="slidenum">
              <a:rPr altLang="en-US" lang="zh-TW" smtClean="0"/>
              <a:t>‹#›</a:t>
            </a:fld>
            <a:endParaRPr altLang="en-US" lang="zh-TW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版面配置區 1">
            <a:extLst>
              <a:ext uri="{FF2B5EF4-FFF2-40B4-BE49-F238E27FC236}">
                <a16:creationId xmlns:a16="http://schemas.microsoft.com/office/drawing/2014/main" id="{9F37A581-AE57-40D2-A235-2C13628B3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314325"/>
            <a:ext cx="9263744" cy="993158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兩大技術方向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707355-22E9-45F5-B584-B4258A671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方向 A</a:t>
            </a:r>
            <a:r>
              <a:rPr/>
              <a:t>：</a:t>
            </a:r>
            <a:r>
              <a:rPr>
                <a:latin typeface="Courier"/>
              </a:rPr>
              <a:t>poc/</a:t>
            </a:r>
            <a:r>
              <a:rPr/>
              <a:t> — PyTorch TextCNN</a:t>
            </a:r>
          </a:p>
          <a:p>
            <a:pPr lvl="0"/>
            <a:r>
              <a:rPr b="1"/>
              <a:t>方向 B</a:t>
            </a:r>
            <a:r>
              <a:rPr/>
              <a:t>：</a:t>
            </a:r>
            <a:r>
              <a:rPr>
                <a:latin typeface="Courier"/>
              </a:rPr>
              <a:t>poc-bert/</a:t>
            </a:r>
            <a:r>
              <a:rPr/>
              <a:t> — BERT 中文微調</a:t>
            </a:r>
          </a:p>
          <a:p>
            <a:pPr lvl="0"/>
            <a:r>
              <a:rPr/>
              <a:t>兩方案可同時運行，互不衝突</a:t>
            </a:r>
          </a:p>
          <a:p>
            <a:pPr lvl="0"/>
            <a:r>
              <a:rPr/>
              <a:t>統一 API 介面，便於比較與整合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7635B3-4035-4C04-BEEA-9C4247F2A916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0D8FE3C-CB2E-446B-970D-61ABFFB94645}" type="slidenum">
              <a:rPr altLang="en-US" lang="zh-TW" smtClean="0"/>
              <a:t>‹#›</a:t>
            </a:fld>
            <a:endParaRPr altLang="en-US" lang="zh-TW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版面配置區 1">
            <a:extLst>
              <a:ext uri="{FF2B5EF4-FFF2-40B4-BE49-F238E27FC236}">
                <a16:creationId xmlns:a16="http://schemas.microsoft.com/office/drawing/2014/main" id="{9F37A581-AE57-40D2-A235-2C13628B3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314325"/>
            <a:ext cx="9263744" cy="993158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方向 A：TextCNN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707355-22E9-45F5-B584-B4258A671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核心元件</a:t>
            </a:r>
          </a:p>
          <a:p>
            <a:pPr lvl="0"/>
            <a:r>
              <a:rPr/>
              <a:t>FastAPI 服務</a:t>
            </a:r>
          </a:p>
          <a:p>
            <a:pPr lvl="0"/>
            <a:r>
              <a:rPr/>
              <a:t>POST /predict</a:t>
            </a:r>
          </a:p>
          <a:p>
            <a:pPr lvl="0"/>
            <a:r>
              <a:rPr/>
              <a:t>POST /tfidf</a:t>
            </a:r>
          </a:p>
          <a:p>
            <a:pPr lvl="0"/>
            <a:r>
              <a:rPr/>
              <a:t>訓練 / 推論 / 評估腳本</a:t>
            </a:r>
          </a:p>
          <a:p>
            <a:pPr lvl="0" indent="0" marL="0">
              <a:buNone/>
            </a:pPr>
            <a:r>
              <a:rPr b="1"/>
              <a:t>技術特色</a:t>
            </a:r>
          </a:p>
          <a:p>
            <a:pPr lvl="0"/>
            <a:r>
              <a:rPr/>
              <a:t>PyTorch TextCNN 模型</a:t>
            </a:r>
          </a:p>
          <a:p>
            <a:pPr lvl="0"/>
            <a:r>
              <a:rPr/>
              <a:t>jieba 手動斷詞</a:t>
            </a:r>
          </a:p>
          <a:p>
            <a:pPr lvl="0"/>
            <a:r>
              <a:rPr/>
              <a:t>Word2Vec 自訓詞向量</a:t>
            </a:r>
          </a:p>
          <a:p>
            <a:pPr lvl="0"/>
            <a:r>
              <a:rPr/>
              <a:t>模型大小約 4 MB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7635B3-4035-4C04-BEEA-9C4247F2A916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0D8FE3C-CB2E-446B-970D-61ABFFB94645}" type="slidenum">
              <a:rPr altLang="en-US" lang="zh-TW" smtClean="0"/>
              <a:t>‹#›</a:t>
            </a:fld>
            <a:endParaRPr altLang="en-US" lang="zh-TW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版面配置區 1">
            <a:extLst>
              <a:ext uri="{FF2B5EF4-FFF2-40B4-BE49-F238E27FC236}">
                <a16:creationId xmlns:a16="http://schemas.microsoft.com/office/drawing/2014/main" id="{9F37A581-AE57-40D2-A235-2C13628B3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314325"/>
            <a:ext cx="9263744" cy="993158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方向 B：BERT 中文微調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707355-22E9-45F5-B584-B4258A671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核心元件</a:t>
            </a:r>
          </a:p>
          <a:p>
            <a:pPr lvl="0"/>
            <a:r>
              <a:rPr/>
              <a:t>FastAPI 服務（Port 8081）</a:t>
            </a:r>
          </a:p>
          <a:p>
            <a:pPr lvl="0"/>
            <a:r>
              <a:rPr/>
              <a:t>POST /predict</a:t>
            </a:r>
          </a:p>
          <a:p>
            <a:pPr lvl="0"/>
            <a:r>
              <a:rPr/>
              <a:t>訓練 / 推論 / 評估腳本</a:t>
            </a:r>
          </a:p>
          <a:p>
            <a:pPr lvl="0"/>
            <a:r>
              <a:rPr/>
              <a:t>HuggingFace BERT 微調</a:t>
            </a:r>
          </a:p>
          <a:p>
            <a:pPr lvl="0" indent="0" marL="0">
              <a:buNone/>
            </a:pPr>
            <a:r>
              <a:rPr b="1"/>
              <a:t>技術特色</a:t>
            </a:r>
          </a:p>
          <a:p>
            <a:pPr lvl="0"/>
            <a:r>
              <a:rPr/>
              <a:t>chinese-roberta-wwm-ext</a:t>
            </a:r>
          </a:p>
          <a:p>
            <a:pPr lvl="0"/>
            <a:r>
              <a:rPr/>
              <a:t>BERT Tokenizer 自動斷詞</a:t>
            </a:r>
          </a:p>
          <a:p>
            <a:pPr lvl="0"/>
            <a:r>
              <a:rPr/>
              <a:t>訓練僅需 3–5 個 Epochs</a:t>
            </a:r>
          </a:p>
          <a:p>
            <a:pPr lvl="0"/>
            <a:r>
              <a:rPr/>
              <a:t>推論 &lt; 1 秒/筆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7635B3-4035-4C04-BEEA-9C4247F2A916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0D8FE3C-CB2E-446B-970D-61ABFFB94645}" type="slidenum">
              <a:rPr altLang="en-US" lang="zh-TW" smtClean="0"/>
              <a:t>‹#›</a:t>
            </a:fld>
            <a:endParaRPr altLang="en-US" lang="zh-TW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56ADFC-6C8D-4B6D-9E7F-BB1DD8766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兩種方案比較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BEB1D8-4B57-4D79-93A7-AFC377294B33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0D8FE3C-CB2E-446B-970D-61ABFFB94645}" type="slidenum">
              <a:rPr altLang="en-US" lang="zh-TW" smtClean="0"/>
              <a:t>‹#›</a:t>
            </a:fld>
            <a:endParaRPr altLang="en-US" lang="zh-TW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版面配置區 1">
            <a:extLst>
              <a:ext uri="{FF2B5EF4-FFF2-40B4-BE49-F238E27FC236}">
                <a16:creationId xmlns:a16="http://schemas.microsoft.com/office/drawing/2014/main" id="{9F37A581-AE57-40D2-A235-2C13628B3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314325"/>
            <a:ext cx="9263744" cy="993158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方案規格對照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460500"/>
          <a:ext cx="10515600" cy="4711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TextCNN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預訓練模型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Word2Vec（自訓）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chinese-roberta-wwm-ext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斷詞方式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jieba 手動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BERT Tokenizer（自動）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訓練 Epochs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3–5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模型大小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~4 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~400 MB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推論速度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極快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1 秒/筆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 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8081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7635B3-4035-4C04-BEEA-9C4247F2A916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0D8FE3C-CB2E-446B-970D-61ABFFB94645}" type="slidenum">
              <a:rPr altLang="en-US" lang="zh-TW" smtClean="0"/>
              <a:t>‹#›</a:t>
            </a:fld>
            <a:endParaRPr altLang="en-US" lang="zh-TW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56ADFC-6C8D-4B6D-9E7F-BB1DD8766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快速開始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BEB1D8-4B57-4D79-93A7-AFC377294B33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0D8FE3C-CB2E-446B-970D-61ABFFB94645}" type="slidenum">
              <a:rPr altLang="en-US" lang="zh-TW" smtClean="0"/>
              <a:t>‹#›</a:t>
            </a:fld>
            <a:endParaRPr altLang="en-US" lang="zh-TW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版面配置區 1">
            <a:extLst>
              <a:ext uri="{FF2B5EF4-FFF2-40B4-BE49-F238E27FC236}">
                <a16:creationId xmlns:a16="http://schemas.microsoft.com/office/drawing/2014/main" id="{9F37A581-AE57-40D2-A235-2C13628B3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314325"/>
            <a:ext cx="9263744" cy="993158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環境需求與訓練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707355-22E9-45F5-B584-B4258A671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環境需求</a:t>
            </a:r>
          </a:p>
          <a:p>
            <a:pPr lvl="0"/>
            <a:r>
              <a:rPr/>
              <a:t>Docker &amp; Docker Compose</a:t>
            </a:r>
          </a:p>
          <a:p>
            <a:pPr lvl="0"/>
            <a:r>
              <a:rPr/>
              <a:t>GPU 機器（訓練時需要）</a:t>
            </a:r>
          </a:p>
          <a:p>
            <a:pPr lvl="0"/>
            <a:r>
              <a:rPr/>
              <a:t>CPU-only（推論可用）</a:t>
            </a:r>
          </a:p>
          <a:p>
            <a:pPr lvl="0" indent="0" marL="0">
              <a:buNone/>
            </a:pPr>
            <a:r>
              <a:rPr b="1"/>
              <a:t>訓練指令</a:t>
            </a:r>
          </a:p>
          <a:p>
            <a:pPr lvl="0"/>
            <a:r>
              <a:rPr/>
              <a:t>TextCNN： </a:t>
            </a:r>
            <a:r>
              <a:rPr>
                <a:latin typeface="Courier"/>
              </a:rPr>
              <a:t>cd poc</a:t>
            </a:r>
            <a:r>
              <a:rPr/>
              <a:t> </a:t>
            </a:r>
            <a:r>
              <a:rPr>
                <a:latin typeface="Courier"/>
              </a:rPr>
              <a:t>docker compose run --rm train</a:t>
            </a:r>
          </a:p>
          <a:p>
            <a:pPr lvl="0"/>
            <a:r>
              <a:rPr/>
              <a:t>BERT： </a:t>
            </a:r>
            <a:r>
              <a:rPr>
                <a:latin typeface="Courier"/>
              </a:rPr>
              <a:t>cd poc-bert</a:t>
            </a:r>
            <a:r>
              <a:rPr/>
              <a:t> </a:t>
            </a:r>
            <a:r>
              <a:rPr>
                <a:latin typeface="Courier"/>
              </a:rPr>
              <a:t>docker compose run --rm train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7635B3-4035-4C04-BEEA-9C4247F2A916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0D8FE3C-CB2E-446B-970D-61ABFFB94645}" type="slidenum">
              <a:rPr altLang="en-US" lang="zh-TW" smtClean="0"/>
              <a:t>‹#›</a:t>
            </a:fld>
            <a:endParaRPr altLang="en-US" lang="zh-TW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版面配置區 1">
            <a:extLst>
              <a:ext uri="{FF2B5EF4-FFF2-40B4-BE49-F238E27FC236}">
                <a16:creationId xmlns:a16="http://schemas.microsoft.com/office/drawing/2014/main" id="{9F37A581-AE57-40D2-A235-2C13628B3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314325"/>
            <a:ext cx="9263744" cy="993158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啟動 API 服務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707355-22E9-45F5-B584-B4258A671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TextCNN（Port 8080）</a:t>
            </a:r>
          </a:p>
          <a:p>
            <a:pPr lvl="0" indent="0">
              <a:buNone/>
            </a:pPr>
            <a:r>
              <a:rPr>
                <a:latin typeface="Courier"/>
              </a:rPr>
              <a:t>cd poc
docker compose up -d api</a:t>
            </a:r>
          </a:p>
          <a:p>
            <a:pPr lvl="0"/>
            <a:r>
              <a:rPr/>
              <a:t>提供 /predict、/tfidf</a:t>
            </a:r>
          </a:p>
          <a:p>
            <a:pPr lvl="0"/>
            <a:r>
              <a:rPr/>
              <a:t>輕量快速部署</a:t>
            </a:r>
          </a:p>
          <a:p>
            <a:pPr lvl="0" indent="0" marL="0">
              <a:buNone/>
            </a:pPr>
            <a:r>
              <a:rPr b="1"/>
              <a:t>BERT（Port 8081）</a:t>
            </a:r>
          </a:p>
          <a:p>
            <a:pPr lvl="0" indent="0">
              <a:buNone/>
            </a:pPr>
            <a:r>
              <a:rPr>
                <a:latin typeface="Courier"/>
              </a:rPr>
              <a:t>cd poc-bert
docker compose up -d api</a:t>
            </a:r>
          </a:p>
          <a:p>
            <a:pPr lvl="0"/>
            <a:r>
              <a:rPr/>
              <a:t>提供 /predict</a:t>
            </a:r>
          </a:p>
          <a:p>
            <a:pPr lvl="0"/>
            <a:r>
              <a:rPr/>
              <a:t>高精準度推論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7635B3-4035-4C04-BEEA-9C4247F2A916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0D8FE3C-CB2E-446B-970D-61ABFFB94645}" type="slidenum">
              <a:rPr altLang="en-US" lang="zh-TW" smtClean="0"/>
              <a:t>‹#›</a:t>
            </a:fld>
            <a:endParaRPr altLang="en-US" lang="zh-TW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版面配置區 1">
            <a:extLst>
              <a:ext uri="{FF2B5EF4-FFF2-40B4-BE49-F238E27FC236}">
                <a16:creationId xmlns:a16="http://schemas.microsoft.com/office/drawing/2014/main" id="{9F37A581-AE57-40D2-A235-2C13628B3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314325"/>
            <a:ext cx="9263744" cy="993158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API 功能說明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707355-22E9-45F5-B584-B4258A671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POST /predict</a:t>
            </a:r>
            <a:r>
              <a:rPr/>
              <a:t> — 輸入陳情文字，回傳 Top-N 局處與信心值</a:t>
            </a:r>
          </a:p>
          <a:p>
            <a:pPr lvl="0"/>
            <a:r>
              <a:rPr b="1"/>
              <a:t>POST /tfidf</a:t>
            </a:r>
            <a:r>
              <a:rPr/>
              <a:t> — TF-IDF 關鍵詞萃取（僅 TextCNN 提供）</a:t>
            </a:r>
          </a:p>
          <a:p>
            <a:pPr lvl="0"/>
            <a:r>
              <a:rPr b="1"/>
              <a:t>GET /health</a:t>
            </a:r>
            <a:r>
              <a:rPr/>
              <a:t> — 服務健康檢查</a:t>
            </a:r>
          </a:p>
          <a:p>
            <a:pPr lvl="0" indent="0" marL="0">
              <a:buNone/>
            </a:pPr>
            <a:r>
              <a:rPr/>
              <a:t>範例請求：</a:t>
            </a:r>
            <a:r>
              <a:rPr>
                <a:latin typeface="Courier"/>
              </a:rPr>
              <a:t>{"preString": "路燈故障無法修復", "preNum": 3}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7635B3-4035-4C04-BEEA-9C4247F2A916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0D8FE3C-CB2E-446B-970D-61ABFFB94645}" type="slidenum">
              <a:rPr altLang="en-US" lang="zh-TW" smtClean="0"/>
              <a:t>‹#›</a:t>
            </a:fld>
            <a:endParaRPr altLang="en-US" lang="zh-TW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藍色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自訂 2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33442</TotalTime>
  <Words>42</Words>
  <Application>Microsoft Office PowerPoint</Application>
  <PresentationFormat>寬螢幕</PresentationFormat>
  <Paragraphs>28</Paragraphs>
  <Slides>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微軟正黑體</vt:lpstr>
      <vt:lpstr>Arial</vt:lpstr>
      <vt:lpstr>Calibri</vt:lpstr>
      <vt:lpstr>Office Theme</vt:lpstr>
      <vt:lpstr>機關</vt:lpstr>
      <vt:lpstr>子章節</vt:lpstr>
      <vt:lpstr>標題</vt:lpstr>
      <vt:lpstr>標題</vt:lpstr>
      <vt:lpstr>標題</vt:lpstr>
      <vt:lpstr>只有標題</vt:lpstr>
      <vt:lpstr>PowerPoint 簡報</vt:lpstr>
      <vt:lpstr>標題</vt:lpstr>
      <vt:lpstr>標題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智慧分案 POC</dc:title>
  <dc:creator>資訊服務團隊</dc:creator>
  <cp:keywords/>
  <dcterms:created xsi:type="dcterms:W3CDTF">2026-04-27T09:33:05Z</dcterms:created>
  <dcterms:modified xsi:type="dcterms:W3CDTF">2026-04-27T09:33:05Z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2026-04-27</vt:lpwstr>
  </property>
  <property fmtid="{D5CDD505-2E9C-101B-9397-08002B2CF9AE}" pid="3" name="subtitle">
    <vt:lpwstr>市民陳情文字自動分類系統概念驗證</vt:lpwstr>
  </property>
</Properties>
</file>